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  <p:sldMasterId id="214748369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DM Sans Medium"/>
      <p:regular r:id="rId16"/>
      <p:bold r:id="rId17"/>
      <p:italic r:id="rId18"/>
      <p:boldItalic r:id="rId19"/>
    </p:embeddedFont>
    <p:embeddedFont>
      <p:font typeface="Merriweather"/>
      <p:regular r:id="rId20"/>
      <p:bold r:id="rId21"/>
      <p:italic r:id="rId22"/>
      <p:boldItalic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erriweather-regular.fntdata"/><Relationship Id="rId22" Type="http://schemas.openxmlformats.org/officeDocument/2006/relationships/font" Target="fonts/Merriweather-italic.fntdata"/><Relationship Id="rId21" Type="http://schemas.openxmlformats.org/officeDocument/2006/relationships/font" Target="fonts/Merriweather-bold.fntdata"/><Relationship Id="rId24" Type="http://schemas.openxmlformats.org/officeDocument/2006/relationships/font" Target="fonts/DMSans-regular.fntdata"/><Relationship Id="rId23" Type="http://schemas.openxmlformats.org/officeDocument/2006/relationships/font" Target="fonts/Merriweather-boldItalic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DMSansMedium-bold.fntdata"/><Relationship Id="rId16" Type="http://schemas.openxmlformats.org/officeDocument/2006/relationships/font" Target="fonts/DMSansMedium-regular.fntdata"/><Relationship Id="rId19" Type="http://schemas.openxmlformats.org/officeDocument/2006/relationships/font" Target="fonts/DMSansMedium-boldItalic.fntdata"/><Relationship Id="rId18" Type="http://schemas.openxmlformats.org/officeDocument/2006/relationships/font" Target="fonts/DMSans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a1acad35c7_0_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a1acad35c7_0_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a1acad35c7_0_7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a1acad35c7_0_7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a1acad35c7_0_7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a1acad35c7_0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a1acad35c7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a1acad35c7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1acad35c7_0_8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1acad35c7_0_8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a1acad35c7_0_8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8" name="Google Shape;308;g3a1acad35c7_0_8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1acad35c7_1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1acad35c7_1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1acad35c7_0_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9" name="Google Shape;329;g3a1acad35c7_0_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1acad35c7_0_8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a1acad35c7_0_8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slide" type="title">
  <p:cSld name="TITLE">
    <p:bg>
      <p:bgPr>
        <a:solidFill>
          <a:schemeClr val="dk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750"/>
              <a:buNone/>
              <a:defRPr sz="675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2" type="subTitle"/>
          </p:nvPr>
        </p:nvSpPr>
        <p:spPr>
          <a:xfrm>
            <a:off x="196950" y="2171250"/>
            <a:ext cx="3986700" cy="55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50"/>
              <a:buFont typeface="DM Sans Medium"/>
              <a:buNone/>
              <a:defRPr sz="1850">
                <a:solidFill>
                  <a:schemeClr val="lt1"/>
                </a:solidFill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0" name="Google Shape;180;p35"/>
          <p:cNvSpPr/>
          <p:nvPr>
            <p:ph idx="3" type="pic"/>
          </p:nvPr>
        </p:nvSpPr>
        <p:spPr>
          <a:xfrm>
            <a:off x="4437578" y="2171250"/>
            <a:ext cx="4509600" cy="27756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181" name="Google Shape;181;p35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number" type="secHead">
  <p:cSld name="SECTION_HEADER"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>
            <p:ph type="title"/>
          </p:nvPr>
        </p:nvSpPr>
        <p:spPr>
          <a:xfrm>
            <a:off x="511953" y="5885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36"/>
          <p:cNvSpPr txBox="1"/>
          <p:nvPr>
            <p:ph idx="2" type="title"/>
          </p:nvPr>
        </p:nvSpPr>
        <p:spPr>
          <a:xfrm>
            <a:off x="511953" y="14303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6" name="Google Shape;186;p36"/>
          <p:cNvSpPr txBox="1"/>
          <p:nvPr>
            <p:ph idx="3" type="title"/>
          </p:nvPr>
        </p:nvSpPr>
        <p:spPr>
          <a:xfrm>
            <a:off x="511953" y="22721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7" name="Google Shape;187;p36"/>
          <p:cNvSpPr txBox="1"/>
          <p:nvPr>
            <p:ph idx="4" type="title"/>
          </p:nvPr>
        </p:nvSpPr>
        <p:spPr>
          <a:xfrm>
            <a:off x="511953" y="31139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36"/>
          <p:cNvSpPr txBox="1"/>
          <p:nvPr>
            <p:ph idx="5" type="title"/>
          </p:nvPr>
        </p:nvSpPr>
        <p:spPr>
          <a:xfrm>
            <a:off x="511953" y="3955799"/>
            <a:ext cx="74643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50"/>
              <a:buNone/>
              <a:defRPr sz="365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9" name="Google Shape;189;p36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36"/>
          <p:cNvSpPr txBox="1"/>
          <p:nvPr>
            <p:ph idx="6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 type="tx">
  <p:cSld name="TITLE_AND_BODY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3" name="Google Shape;193;p37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50"/>
              <a:buFont typeface="Merriweather"/>
              <a:buNone/>
              <a:defRPr sz="2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2" type="body"/>
          </p:nvPr>
        </p:nvSpPr>
        <p:spPr>
          <a:xfrm>
            <a:off x="196951" y="196725"/>
            <a:ext cx="18591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2">
  <p:cSld name="TITLE_AND_BODY_1">
    <p:bg>
      <p:bgPr>
        <a:solidFill>
          <a:schemeClr val="dk1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8" name="Google Shape;198;p38"/>
          <p:cNvSpPr txBox="1"/>
          <p:nvPr>
            <p:ph idx="1" type="subTitle"/>
          </p:nvPr>
        </p:nvSpPr>
        <p:spPr>
          <a:xfrm>
            <a:off x="975300" y="1864050"/>
            <a:ext cx="7193400" cy="141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50"/>
              <a:buFont typeface="Merriweather"/>
              <a:buNone/>
              <a:defRPr sz="26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199" name="Google Shape;199;p38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" name="Google Shape;200;p3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1" type="twoColTx">
  <p:cSld name="TITLE_AND_TWO_COLUMNS"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450"/>
              <a:buNone/>
              <a:defRPr/>
            </a:lvl9pPr>
          </a:lstStyle>
          <a:p/>
        </p:txBody>
      </p:sp>
      <p:sp>
        <p:nvSpPr>
          <p:cNvPr id="203" name="Google Shape;203;p39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" name="Google Shape;20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39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06" name="Google Shape;206;p39"/>
          <p:cNvSpPr txBox="1"/>
          <p:nvPr>
            <p:ph idx="3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" name="Google Shape;207;p39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2">
  <p:cSld name="TITLE_AND_TWO_COLUMNS_1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0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5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0" name="Google Shape;210;p40"/>
          <p:cNvSpPr txBox="1"/>
          <p:nvPr>
            <p:ph idx="1" type="body"/>
          </p:nvPr>
        </p:nvSpPr>
        <p:spPr>
          <a:xfrm>
            <a:off x="197375" y="690525"/>
            <a:ext cx="3151800" cy="378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>
                <a:solidFill>
                  <a:schemeClr val="lt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1" name="Google Shape;211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40"/>
          <p:cNvSpPr/>
          <p:nvPr>
            <p:ph idx="2" type="pic"/>
          </p:nvPr>
        </p:nvSpPr>
        <p:spPr>
          <a:xfrm>
            <a:off x="3726325" y="669925"/>
            <a:ext cx="5220900" cy="4276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  <p:sp>
        <p:nvSpPr>
          <p:cNvPr id="213" name="Google Shape;213;p40"/>
          <p:cNvSpPr txBox="1"/>
          <p:nvPr>
            <p:ph idx="3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4" name="Google Shape;214;p40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5" name="Google Shape;215;p40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chart">
  <p:cSld name="SECTION_TITLE_AND_DESCRIPTION">
    <p:bg>
      <p:bgPr>
        <a:solidFill>
          <a:schemeClr val="lt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/>
          <p:nvPr/>
        </p:nvSpPr>
        <p:spPr>
          <a:xfrm>
            <a:off x="4305000" y="-125"/>
            <a:ext cx="4839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18" name="Google Shape;218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9" name="Google Shape;219;p41"/>
          <p:cNvSpPr txBox="1"/>
          <p:nvPr>
            <p:ph type="title"/>
          </p:nvPr>
        </p:nvSpPr>
        <p:spPr>
          <a:xfrm>
            <a:off x="197375" y="1052750"/>
            <a:ext cx="3151800" cy="1632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5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197375" y="2685650"/>
            <a:ext cx="3151800" cy="182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221" name="Google Shape;221;p41"/>
          <p:cNvSpPr txBox="1"/>
          <p:nvPr>
            <p:ph idx="2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22" name="Google Shape;222;p41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●"/>
              <a:defRPr sz="800">
                <a:solidFill>
                  <a:schemeClr val="lt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 sz="800">
                <a:solidFill>
                  <a:schemeClr val="lt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■"/>
              <a:defRPr sz="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ppendix">
  <p:cSld name="CAPTION_ONLY">
    <p:bg>
      <p:bgPr>
        <a:solidFill>
          <a:schemeClr val="lt2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42"/>
          <p:cNvSpPr txBox="1"/>
          <p:nvPr>
            <p:ph idx="1" type="body"/>
          </p:nvPr>
        </p:nvSpPr>
        <p:spPr>
          <a:xfrm>
            <a:off x="2030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6" name="Google Shape;226;p42"/>
          <p:cNvSpPr txBox="1"/>
          <p:nvPr>
            <p:ph idx="2" type="body"/>
          </p:nvPr>
        </p:nvSpPr>
        <p:spPr>
          <a:xfrm>
            <a:off x="2030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7" name="Google Shape;227;p42"/>
          <p:cNvSpPr txBox="1"/>
          <p:nvPr>
            <p:ph idx="3" type="body"/>
          </p:nvPr>
        </p:nvSpPr>
        <p:spPr>
          <a:xfrm>
            <a:off x="2030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8" name="Google Shape;228;p42"/>
          <p:cNvSpPr txBox="1"/>
          <p:nvPr>
            <p:ph idx="4" type="body"/>
          </p:nvPr>
        </p:nvSpPr>
        <p:spPr>
          <a:xfrm>
            <a:off x="2030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29" name="Google Shape;229;p42"/>
          <p:cNvSpPr txBox="1"/>
          <p:nvPr>
            <p:ph idx="5" type="body"/>
          </p:nvPr>
        </p:nvSpPr>
        <p:spPr>
          <a:xfrm>
            <a:off x="2030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0" name="Google Shape;230;p42"/>
          <p:cNvSpPr txBox="1"/>
          <p:nvPr>
            <p:ph idx="6" type="body"/>
          </p:nvPr>
        </p:nvSpPr>
        <p:spPr>
          <a:xfrm>
            <a:off x="2030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1" name="Google Shape;231;p42"/>
          <p:cNvSpPr txBox="1"/>
          <p:nvPr>
            <p:ph idx="7" type="body"/>
          </p:nvPr>
        </p:nvSpPr>
        <p:spPr>
          <a:xfrm>
            <a:off x="2030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2" name="Google Shape;232;p42"/>
          <p:cNvSpPr txBox="1"/>
          <p:nvPr>
            <p:ph idx="8" type="body"/>
          </p:nvPr>
        </p:nvSpPr>
        <p:spPr>
          <a:xfrm>
            <a:off x="2030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3" name="Google Shape;233;p42"/>
          <p:cNvSpPr txBox="1"/>
          <p:nvPr>
            <p:ph idx="9" type="body"/>
          </p:nvPr>
        </p:nvSpPr>
        <p:spPr>
          <a:xfrm>
            <a:off x="2030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4" name="Google Shape;234;p42"/>
          <p:cNvSpPr txBox="1"/>
          <p:nvPr>
            <p:ph idx="13" type="body"/>
          </p:nvPr>
        </p:nvSpPr>
        <p:spPr>
          <a:xfrm>
            <a:off x="32496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5" name="Google Shape;235;p42"/>
          <p:cNvSpPr txBox="1"/>
          <p:nvPr>
            <p:ph idx="14" type="body"/>
          </p:nvPr>
        </p:nvSpPr>
        <p:spPr>
          <a:xfrm>
            <a:off x="32496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6" name="Google Shape;236;p42"/>
          <p:cNvSpPr txBox="1"/>
          <p:nvPr>
            <p:ph idx="15" type="body"/>
          </p:nvPr>
        </p:nvSpPr>
        <p:spPr>
          <a:xfrm>
            <a:off x="32496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7" name="Google Shape;237;p42"/>
          <p:cNvSpPr txBox="1"/>
          <p:nvPr>
            <p:ph idx="16" type="body"/>
          </p:nvPr>
        </p:nvSpPr>
        <p:spPr>
          <a:xfrm>
            <a:off x="32496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8" name="Google Shape;238;p42"/>
          <p:cNvSpPr txBox="1"/>
          <p:nvPr>
            <p:ph idx="17" type="body"/>
          </p:nvPr>
        </p:nvSpPr>
        <p:spPr>
          <a:xfrm>
            <a:off x="32496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39" name="Google Shape;239;p42"/>
          <p:cNvSpPr txBox="1"/>
          <p:nvPr>
            <p:ph idx="18" type="body"/>
          </p:nvPr>
        </p:nvSpPr>
        <p:spPr>
          <a:xfrm>
            <a:off x="32496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0" name="Google Shape;240;p42"/>
          <p:cNvSpPr txBox="1"/>
          <p:nvPr>
            <p:ph idx="19" type="body"/>
          </p:nvPr>
        </p:nvSpPr>
        <p:spPr>
          <a:xfrm>
            <a:off x="32496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0" type="body"/>
          </p:nvPr>
        </p:nvSpPr>
        <p:spPr>
          <a:xfrm>
            <a:off x="32496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21" type="body"/>
          </p:nvPr>
        </p:nvSpPr>
        <p:spPr>
          <a:xfrm>
            <a:off x="32496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22" type="body"/>
          </p:nvPr>
        </p:nvSpPr>
        <p:spPr>
          <a:xfrm>
            <a:off x="6296200" y="8914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4" name="Google Shape;244;p42"/>
          <p:cNvSpPr txBox="1"/>
          <p:nvPr>
            <p:ph idx="23" type="body"/>
          </p:nvPr>
        </p:nvSpPr>
        <p:spPr>
          <a:xfrm>
            <a:off x="6296200" y="13204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5" name="Google Shape;245;p42"/>
          <p:cNvSpPr txBox="1"/>
          <p:nvPr>
            <p:ph idx="24" type="body"/>
          </p:nvPr>
        </p:nvSpPr>
        <p:spPr>
          <a:xfrm>
            <a:off x="6296200" y="15886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6" name="Google Shape;246;p42"/>
          <p:cNvSpPr txBox="1"/>
          <p:nvPr>
            <p:ph idx="25" type="body"/>
          </p:nvPr>
        </p:nvSpPr>
        <p:spPr>
          <a:xfrm>
            <a:off x="6296200" y="220655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7" name="Google Shape;247;p42"/>
          <p:cNvSpPr txBox="1"/>
          <p:nvPr>
            <p:ph idx="26" type="body"/>
          </p:nvPr>
        </p:nvSpPr>
        <p:spPr>
          <a:xfrm>
            <a:off x="6296200" y="26355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8" name="Google Shape;248;p42"/>
          <p:cNvSpPr txBox="1"/>
          <p:nvPr>
            <p:ph idx="27" type="body"/>
          </p:nvPr>
        </p:nvSpPr>
        <p:spPr>
          <a:xfrm>
            <a:off x="6296200" y="290375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49" name="Google Shape;249;p42"/>
          <p:cNvSpPr txBox="1"/>
          <p:nvPr>
            <p:ph idx="28" type="body"/>
          </p:nvPr>
        </p:nvSpPr>
        <p:spPr>
          <a:xfrm>
            <a:off x="6296200" y="3433400"/>
            <a:ext cx="2644800" cy="42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0" name="Google Shape;250;p42"/>
          <p:cNvSpPr txBox="1"/>
          <p:nvPr>
            <p:ph idx="29" type="body"/>
          </p:nvPr>
        </p:nvSpPr>
        <p:spPr>
          <a:xfrm>
            <a:off x="6296200" y="38624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3429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3429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3429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3429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3429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3429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●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3429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○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3429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M Sans Medium"/>
              <a:buChar char="■"/>
              <a:defRPr sz="1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1" name="Google Shape;251;p42"/>
          <p:cNvSpPr txBox="1"/>
          <p:nvPr>
            <p:ph idx="30" type="body"/>
          </p:nvPr>
        </p:nvSpPr>
        <p:spPr>
          <a:xfrm>
            <a:off x="6296200" y="4130600"/>
            <a:ext cx="2644800" cy="2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>
                <a:latin typeface="DM Sans Medium"/>
                <a:ea typeface="DM Sans Medium"/>
                <a:cs typeface="DM Sans Medium"/>
                <a:sym typeface="DM Sans Medium"/>
              </a:defRPr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●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○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Font typeface="DM Sans Medium"/>
              <a:buChar char="■"/>
              <a:defRPr sz="800">
                <a:latin typeface="DM Sans Medium"/>
                <a:ea typeface="DM Sans Medium"/>
                <a:cs typeface="DM Sans Medium"/>
                <a:sym typeface="DM Sans Medium"/>
              </a:defRPr>
            </a:lvl9pPr>
          </a:lstStyle>
          <a:p/>
        </p:txBody>
      </p:sp>
      <p:sp>
        <p:nvSpPr>
          <p:cNvPr id="252" name="Google Shape;252;p42"/>
          <p:cNvSpPr txBox="1"/>
          <p:nvPr>
            <p:ph idx="31" type="body"/>
          </p:nvPr>
        </p:nvSpPr>
        <p:spPr>
          <a:xfrm>
            <a:off x="196951" y="196725"/>
            <a:ext cx="18606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53" name="Google Shape;253;p42"/>
          <p:cNvSpPr txBox="1"/>
          <p:nvPr>
            <p:ph idx="3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blank">
  <p:cSld name="CUSTOM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43"/>
          <p:cNvSpPr txBox="1"/>
          <p:nvPr>
            <p:ph idx="1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7" name="Google Shape;257;p43"/>
          <p:cNvSpPr txBox="1"/>
          <p:nvPr>
            <p:ph idx="2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9400" lvl="0" marL="457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1pPr>
            <a:lvl2pPr indent="-279400" lvl="1" marL="914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>
                <a:solidFill>
                  <a:schemeClr val="dk1"/>
                </a:solidFill>
              </a:defRPr>
            </a:lvl2pPr>
            <a:lvl3pPr indent="-279400" lvl="2" marL="1371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3pPr>
            <a:lvl4pPr indent="-279400" lvl="3" marL="1828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4pPr>
            <a:lvl5pPr indent="-279400" lvl="4" marL="22860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5pPr>
            <a:lvl6pPr indent="-279400" lvl="5" marL="27432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6pPr>
            <a:lvl7pPr indent="-279400" lvl="6" marL="32004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●"/>
              <a:defRPr sz="800">
                <a:solidFill>
                  <a:schemeClr val="dk1"/>
                </a:solidFill>
              </a:defRPr>
            </a:lvl7pPr>
            <a:lvl8pPr indent="-279400" lvl="7" marL="36576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○"/>
              <a:defRPr sz="800">
                <a:solidFill>
                  <a:schemeClr val="dk1"/>
                </a:solidFill>
              </a:defRPr>
            </a:lvl8pPr>
            <a:lvl9pPr indent="-279400" lvl="8" marL="411480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Char char="■"/>
              <a:defRPr sz="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50"/>
              <a:buFont typeface="Merriweather"/>
              <a:buNone/>
              <a:defRPr b="1" sz="34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176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00"/>
              <a:buFont typeface="DM Sans"/>
              <a:buChar char="○"/>
              <a:defRPr sz="8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●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○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DM Sans"/>
              <a:buChar char="■"/>
              <a:defRPr sz="1000">
                <a:solidFill>
                  <a:schemeClr val="dk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8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124">
          <p15:clr>
            <a:srgbClr val="E46962"/>
          </p15:clr>
        </p15:guide>
        <p15:guide id="2" orient="horz" pos="124">
          <p15:clr>
            <a:srgbClr val="E46962"/>
          </p15:clr>
        </p15:guide>
        <p15:guide id="3" pos="5636">
          <p15:clr>
            <a:srgbClr val="E46962"/>
          </p15:clr>
        </p15:guide>
        <p15:guide id="4" orient="horz" pos="3116">
          <p15:clr>
            <a:srgbClr val="E46962"/>
          </p15:clr>
        </p15:guide>
        <p15:guide id="5" pos="1296">
          <p15:clr>
            <a:srgbClr val="E46962"/>
          </p15:clr>
        </p15:guide>
        <p15:guide id="6" pos="4465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4"/>
          <p:cNvSpPr txBox="1"/>
          <p:nvPr>
            <p:ph idx="4" type="body"/>
          </p:nvPr>
        </p:nvSpPr>
        <p:spPr>
          <a:xfrm>
            <a:off x="8208751" y="196725"/>
            <a:ext cx="8124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11.17.25</a:t>
            </a:r>
            <a:endParaRPr/>
          </a:p>
        </p:txBody>
      </p:sp>
      <p:sp>
        <p:nvSpPr>
          <p:cNvPr id="263" name="Google Shape;263;p44"/>
          <p:cNvSpPr txBox="1"/>
          <p:nvPr>
            <p:ph type="ctrTitle"/>
          </p:nvPr>
        </p:nvSpPr>
        <p:spPr>
          <a:xfrm>
            <a:off x="196950" y="223825"/>
            <a:ext cx="8011800" cy="187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Muvico</a:t>
            </a:r>
            <a:endParaRPr/>
          </a:p>
        </p:txBody>
      </p:sp>
      <p:sp>
        <p:nvSpPr>
          <p:cNvPr id="264" name="Google Shape;264;p44"/>
          <p:cNvSpPr txBox="1"/>
          <p:nvPr>
            <p:ph idx="2" type="subTitle"/>
          </p:nvPr>
        </p:nvSpPr>
        <p:spPr>
          <a:xfrm>
            <a:off x="196950" y="2171250"/>
            <a:ext cx="3986700" cy="83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Wesley Ledesma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Rayhan Alcena</a:t>
            </a:r>
            <a:endParaRPr/>
          </a:p>
        </p:txBody>
      </p:sp>
      <p:sp>
        <p:nvSpPr>
          <p:cNvPr id="265" name="Google Shape;265;p44"/>
          <p:cNvSpPr txBox="1"/>
          <p:nvPr>
            <p:ph idx="1" type="body"/>
          </p:nvPr>
        </p:nvSpPr>
        <p:spPr>
          <a:xfrm>
            <a:off x="196951" y="4737750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CAP 5610</a:t>
            </a:r>
            <a:endParaRPr/>
          </a:p>
        </p:txBody>
      </p:sp>
      <p:pic>
        <p:nvPicPr>
          <p:cNvPr id="266" name="Google Shape;26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650" y="1468575"/>
            <a:ext cx="4432776" cy="326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08550" y="1711675"/>
            <a:ext cx="2782975" cy="27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45"/>
          <p:cNvSpPr txBox="1"/>
          <p:nvPr>
            <p:ph idx="1" type="subTitle"/>
          </p:nvPr>
        </p:nvSpPr>
        <p:spPr>
          <a:xfrm>
            <a:off x="975300" y="1864050"/>
            <a:ext cx="7193400" cy="140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 is a Large Language Model (LLM) that recommends users movies to watch based on their interests.</a:t>
            </a:r>
            <a:endParaRPr/>
          </a:p>
        </p:txBody>
      </p:sp>
      <p:sp>
        <p:nvSpPr>
          <p:cNvPr id="274" name="Google Shape;274;p45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sp>
        <p:nvSpPr>
          <p:cNvPr id="275" name="Google Shape;275;p45"/>
          <p:cNvSpPr txBox="1"/>
          <p:nvPr/>
        </p:nvSpPr>
        <p:spPr>
          <a:xfrm>
            <a:off x="197387" y="196714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Project Purpose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6"/>
          <p:cNvSpPr txBox="1"/>
          <p:nvPr>
            <p:ph type="title"/>
          </p:nvPr>
        </p:nvSpPr>
        <p:spPr>
          <a:xfrm>
            <a:off x="197375" y="1031225"/>
            <a:ext cx="3151800" cy="809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MovieLens 1M Dataset</a:t>
            </a:r>
            <a:endParaRPr sz="2600"/>
          </a:p>
        </p:txBody>
      </p:sp>
      <p:sp>
        <p:nvSpPr>
          <p:cNvPr id="281" name="Google Shape;281;p46"/>
          <p:cNvSpPr txBox="1"/>
          <p:nvPr>
            <p:ph idx="1" type="body"/>
          </p:nvPr>
        </p:nvSpPr>
        <p:spPr>
          <a:xfrm>
            <a:off x="197375" y="2057225"/>
            <a:ext cx="3151800" cy="217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The dataset we used to fine-tune the LLM was the “MovieLens 1M Dataset”.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dataset was released February 2003 by GroupLens Research at the University of Minnesota.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Contains 1 million ratings from 6,000 users on 4,000 </a:t>
            </a:r>
            <a:r>
              <a:rPr lang="en" sz="1200"/>
              <a:t>movies.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rating scale ranges from 1-5.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Each user have rated at least 20 movies.</a:t>
            </a:r>
            <a:endParaRPr sz="1200"/>
          </a:p>
        </p:txBody>
      </p:sp>
      <p:sp>
        <p:nvSpPr>
          <p:cNvPr id="282" name="Google Shape;282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3" name="Google Shape;283;p46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pic>
        <p:nvPicPr>
          <p:cNvPr id="284" name="Google Shape;284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9504" y="910975"/>
            <a:ext cx="5058222" cy="332155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46"/>
          <p:cNvSpPr txBox="1"/>
          <p:nvPr/>
        </p:nvSpPr>
        <p:spPr>
          <a:xfrm>
            <a:off x="197387" y="19643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Selection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1" name="Google Shape;291;p47"/>
          <p:cNvSpPr txBox="1"/>
          <p:nvPr>
            <p:ph idx="1" type="subTitle"/>
          </p:nvPr>
        </p:nvSpPr>
        <p:spPr>
          <a:xfrm>
            <a:off x="440375" y="1622525"/>
            <a:ext cx="2447400" cy="200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Users Data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Format: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UserID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Gender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Age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Occupation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Zip-code</a:t>
            </a:r>
            <a:endParaRPr sz="1200"/>
          </a:p>
        </p:txBody>
      </p:sp>
      <p:sp>
        <p:nvSpPr>
          <p:cNvPr id="292" name="Google Shape;292;p47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sp>
        <p:nvSpPr>
          <p:cNvPr id="293" name="Google Shape;293;p47"/>
          <p:cNvSpPr txBox="1"/>
          <p:nvPr>
            <p:ph idx="1" type="subTitle"/>
          </p:nvPr>
        </p:nvSpPr>
        <p:spPr>
          <a:xfrm>
            <a:off x="3348302" y="1622525"/>
            <a:ext cx="2447400" cy="1816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Ratings Data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/>
              <a:t>Format: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UserID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MovieID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Rating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Timestamp</a:t>
            </a:r>
            <a:endParaRPr sz="1200"/>
          </a:p>
        </p:txBody>
      </p:sp>
      <p:sp>
        <p:nvSpPr>
          <p:cNvPr id="294" name="Google Shape;294;p47"/>
          <p:cNvSpPr txBox="1"/>
          <p:nvPr>
            <p:ph idx="1" type="subTitle"/>
          </p:nvPr>
        </p:nvSpPr>
        <p:spPr>
          <a:xfrm>
            <a:off x="6256225" y="1622525"/>
            <a:ext cx="2447400" cy="163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Movies Data</a:t>
            </a:r>
            <a:endParaRPr sz="26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en" sz="1200"/>
              <a:t>Format: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MovieID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Title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Genre</a:t>
            </a:r>
            <a:endParaRPr sz="1200"/>
          </a:p>
        </p:txBody>
      </p:sp>
      <p:sp>
        <p:nvSpPr>
          <p:cNvPr id="295" name="Google Shape;295;p47"/>
          <p:cNvSpPr txBox="1"/>
          <p:nvPr/>
        </p:nvSpPr>
        <p:spPr>
          <a:xfrm>
            <a:off x="249736" y="19673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Dataset Selection</a:t>
            </a:r>
            <a:endParaRPr b="1" sz="36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8"/>
          <p:cNvSpPr txBox="1"/>
          <p:nvPr>
            <p:ph type="title"/>
          </p:nvPr>
        </p:nvSpPr>
        <p:spPr>
          <a:xfrm>
            <a:off x="222550" y="1027825"/>
            <a:ext cx="3151800" cy="493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Tiny Llama-1.1B</a:t>
            </a:r>
            <a:endParaRPr sz="2600"/>
          </a:p>
        </p:txBody>
      </p:sp>
      <p:sp>
        <p:nvSpPr>
          <p:cNvPr id="301" name="Google Shape;301;p48"/>
          <p:cNvSpPr txBox="1"/>
          <p:nvPr>
            <p:ph idx="1" type="body"/>
          </p:nvPr>
        </p:nvSpPr>
        <p:spPr>
          <a:xfrm>
            <a:off x="222550" y="2062400"/>
            <a:ext cx="3151800" cy="20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None/>
            </a:pPr>
            <a:r>
              <a:rPr lang="en" sz="1200"/>
              <a:t>Tiny Llama is a </a:t>
            </a:r>
            <a:r>
              <a:rPr lang="en" sz="1200"/>
              <a:t>pertain and compact model.</a:t>
            </a:r>
            <a:endParaRPr sz="1200"/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Model size is 1.1 billion parameters.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training data consists of 3 trillion tokens.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This compactness is best suited for applications with limited computing power and memory resources.</a:t>
            </a:r>
            <a:endParaRPr sz="1200"/>
          </a:p>
        </p:txBody>
      </p:sp>
      <p:sp>
        <p:nvSpPr>
          <p:cNvPr id="302" name="Google Shape;302;p48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pic>
        <p:nvPicPr>
          <p:cNvPr id="303" name="Google Shape;303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1302" y="1174304"/>
            <a:ext cx="3336549" cy="279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48"/>
          <p:cNvSpPr txBox="1"/>
          <p:nvPr/>
        </p:nvSpPr>
        <p:spPr>
          <a:xfrm>
            <a:off x="197387" y="19643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Model Selection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1" name="Google Shape;311;p49"/>
          <p:cNvSpPr txBox="1"/>
          <p:nvPr>
            <p:ph idx="1" type="body"/>
          </p:nvPr>
        </p:nvSpPr>
        <p:spPr>
          <a:xfrm>
            <a:off x="197375" y="1947150"/>
            <a:ext cx="3151800" cy="264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35"/>
              <a:buFont typeface="Arial"/>
              <a:buNone/>
            </a:pPr>
            <a:r>
              <a:rPr lang="en" sz="1120"/>
              <a:t>LoRa is an efficient fine-tuning technique that updates a small portion of a LLM’s parameters without having to </a:t>
            </a:r>
            <a:r>
              <a:rPr lang="en" sz="1120"/>
              <a:t>retrain the entire model.</a:t>
            </a:r>
            <a:endParaRPr sz="1120"/>
          </a:p>
          <a:p>
            <a:pPr indent="-299720" lvl="0" marL="4572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120"/>
              <a:buChar char="●"/>
            </a:pPr>
            <a:r>
              <a:rPr lang="en" sz="1120"/>
              <a:t>Adds small matrices alongside existing layers.</a:t>
            </a:r>
            <a:endParaRPr sz="1120"/>
          </a:p>
          <a:p>
            <a:pPr indent="-29972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●"/>
            </a:pPr>
            <a:r>
              <a:rPr lang="en" sz="1120"/>
              <a:t>Only the new matrices get updated during fine-tuning.</a:t>
            </a:r>
            <a:endParaRPr sz="1120"/>
          </a:p>
          <a:p>
            <a:pPr indent="-29972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●"/>
            </a:pPr>
            <a:r>
              <a:rPr lang="en" sz="1120"/>
              <a:t>The original pre-trained weights remain unchanged.</a:t>
            </a:r>
            <a:endParaRPr sz="1120"/>
          </a:p>
          <a:p>
            <a:pPr indent="-29972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120"/>
              <a:buChar char="●"/>
            </a:pPr>
            <a:r>
              <a:rPr lang="en" sz="1120"/>
              <a:t>Trains 0.1-1% of the original parameters.</a:t>
            </a:r>
            <a:endParaRPr sz="1120"/>
          </a:p>
          <a:p>
            <a:pPr indent="-299720" lvl="0" marL="457200" rtl="0" algn="l">
              <a:lnSpc>
                <a:spcPct val="90000"/>
              </a:lnSpc>
              <a:spcBef>
                <a:spcPts val="1000"/>
              </a:spcBef>
              <a:spcAft>
                <a:spcPts val="1000"/>
              </a:spcAft>
              <a:buSzPts val="1120"/>
              <a:buChar char="●"/>
            </a:pPr>
            <a:r>
              <a:rPr lang="en" sz="1120"/>
              <a:t>Often matches full fine-tuning quality despite parameter reduction.</a:t>
            </a:r>
            <a:endParaRPr sz="1120"/>
          </a:p>
        </p:txBody>
      </p:sp>
      <p:sp>
        <p:nvSpPr>
          <p:cNvPr id="312" name="Google Shape;312;p49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pic>
        <p:nvPicPr>
          <p:cNvPr id="313" name="Google Shape;313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4805" y="1428559"/>
            <a:ext cx="3932319" cy="221193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9"/>
          <p:cNvSpPr txBox="1"/>
          <p:nvPr/>
        </p:nvSpPr>
        <p:spPr>
          <a:xfrm>
            <a:off x="197387" y="19643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Fine-Tuning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315" name="Google Shape;315;p49"/>
          <p:cNvSpPr txBox="1"/>
          <p:nvPr>
            <p:ph type="title"/>
          </p:nvPr>
        </p:nvSpPr>
        <p:spPr>
          <a:xfrm>
            <a:off x="197375" y="1052750"/>
            <a:ext cx="3151800" cy="77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/>
              <a:t>Low-Rank Adaptation (LoRa)</a:t>
            </a:r>
            <a:endParaRPr sz="2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1" name="Google Shape;321;p50"/>
          <p:cNvSpPr txBox="1"/>
          <p:nvPr>
            <p:ph idx="1" type="subTitle"/>
          </p:nvPr>
        </p:nvSpPr>
        <p:spPr>
          <a:xfrm>
            <a:off x="270375" y="848875"/>
            <a:ext cx="2222700" cy="3227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Image 1: 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Running the Muvico LLM.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Image 2: 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200"/>
              <a:t>Output of example queries the user can use when </a:t>
            </a:r>
            <a:r>
              <a:rPr lang="en" sz="1200"/>
              <a:t>prompting</a:t>
            </a:r>
            <a:r>
              <a:rPr lang="en" sz="1200"/>
              <a:t> the LLM.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Image 3: </a:t>
            </a:r>
            <a:endParaRPr sz="1200"/>
          </a:p>
          <a:p>
            <a:pPr indent="0" lvl="0" marL="45720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200"/>
              <a:t>Generated response from the LLM after being prompted by the user.</a:t>
            </a:r>
            <a:endParaRPr sz="1200"/>
          </a:p>
        </p:txBody>
      </p:sp>
      <p:sp>
        <p:nvSpPr>
          <p:cNvPr id="322" name="Google Shape;322;p50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pic>
        <p:nvPicPr>
          <p:cNvPr id="323" name="Google Shape;323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5450" y="239875"/>
            <a:ext cx="3324150" cy="26198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24" name="Google Shape;324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93225" y="3449975"/>
            <a:ext cx="5841824" cy="14144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325" name="Google Shape;32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25125" y="2259887"/>
            <a:ext cx="3121500" cy="147146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326" name="Google Shape;326;p50"/>
          <p:cNvSpPr txBox="1"/>
          <p:nvPr/>
        </p:nvSpPr>
        <p:spPr>
          <a:xfrm>
            <a:off x="197387" y="196439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5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Muvico App</a:t>
            </a:r>
            <a:endParaRPr b="1" sz="365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51"/>
          <p:cNvSpPr txBox="1"/>
          <p:nvPr>
            <p:ph idx="1" type="body"/>
          </p:nvPr>
        </p:nvSpPr>
        <p:spPr>
          <a:xfrm>
            <a:off x="249725" y="1599575"/>
            <a:ext cx="3151800" cy="265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Dataset is missing Movie ratings (e.g. PG, PG-13, etc)</a:t>
            </a:r>
            <a:r>
              <a:rPr lang="en" sz="1200"/>
              <a:t> which may be leading to inaccurate recommendations.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The model may be too limited, may have to look into Llama 3 3B or 8B Instruct.</a:t>
            </a:r>
            <a:endParaRPr sz="1200"/>
          </a:p>
          <a:p>
            <a:pPr indent="-304800" lvl="0" marL="457200" rtl="0" algn="l">
              <a:spcBef>
                <a:spcPts val="1000"/>
              </a:spcBef>
              <a:spcAft>
                <a:spcPts val="1000"/>
              </a:spcAft>
              <a:buSzPts val="1200"/>
              <a:buChar char="●"/>
            </a:pPr>
            <a:r>
              <a:rPr lang="en" sz="1200"/>
              <a:t>The Nvidia GPU we are using is good but not good enough for fine-tuning LLMs with many parameters or for the LLM to generate responses quickly.</a:t>
            </a:r>
            <a:endParaRPr sz="1200"/>
          </a:p>
        </p:txBody>
      </p:sp>
      <p:sp>
        <p:nvSpPr>
          <p:cNvPr id="332" name="Google Shape;33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3" name="Google Shape;333;p51"/>
          <p:cNvSpPr txBox="1"/>
          <p:nvPr>
            <p:ph idx="4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  <p:sp>
        <p:nvSpPr>
          <p:cNvPr id="334" name="Google Shape;334;p51"/>
          <p:cNvSpPr txBox="1"/>
          <p:nvPr>
            <p:ph idx="5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35" name="Google Shape;335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681563"/>
            <a:ext cx="3780375" cy="3780375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1"/>
          <p:cNvSpPr txBox="1"/>
          <p:nvPr/>
        </p:nvSpPr>
        <p:spPr>
          <a:xfrm>
            <a:off x="249736" y="196735"/>
            <a:ext cx="7043700" cy="49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5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Challenges &amp; Pitfalls</a:t>
            </a:r>
            <a:endParaRPr b="1" sz="3650">
              <a:solidFill>
                <a:schemeClr val="accent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52"/>
          <p:cNvSpPr txBox="1"/>
          <p:nvPr>
            <p:ph idx="1" type="subTitle"/>
          </p:nvPr>
        </p:nvSpPr>
        <p:spPr>
          <a:xfrm>
            <a:off x="975300" y="1864050"/>
            <a:ext cx="7193400" cy="115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Any Questions?</a:t>
            </a:r>
            <a:endParaRPr/>
          </a:p>
        </p:txBody>
      </p:sp>
      <p:sp>
        <p:nvSpPr>
          <p:cNvPr id="343" name="Google Shape;343;p52"/>
          <p:cNvSpPr txBox="1"/>
          <p:nvPr>
            <p:ph idx="2" type="body"/>
          </p:nvPr>
        </p:nvSpPr>
        <p:spPr>
          <a:xfrm>
            <a:off x="196951" y="196725"/>
            <a:ext cx="18603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44" name="Google Shape;344;p52"/>
          <p:cNvSpPr txBox="1"/>
          <p:nvPr>
            <p:ph idx="3" type="body"/>
          </p:nvPr>
        </p:nvSpPr>
        <p:spPr>
          <a:xfrm>
            <a:off x="7087526" y="196725"/>
            <a:ext cx="1933500" cy="20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Muvico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cience Presentation">
  <a:themeElements>
    <a:clrScheme name="Simple Light">
      <a:dk1>
        <a:srgbClr val="005088"/>
      </a:dk1>
      <a:lt1>
        <a:srgbClr val="F3F0DF"/>
      </a:lt1>
      <a:dk2>
        <a:srgbClr val="121212"/>
      </a:dk2>
      <a:lt2>
        <a:srgbClr val="D0E0E3"/>
      </a:lt2>
      <a:accent1>
        <a:srgbClr val="11CAA0"/>
      </a:accent1>
      <a:accent2>
        <a:srgbClr val="6D6D6B"/>
      </a:accent2>
      <a:accent3>
        <a:srgbClr val="FFFFFF"/>
      </a:accent3>
      <a:accent4>
        <a:srgbClr val="656839"/>
      </a:accent4>
      <a:accent5>
        <a:srgbClr val="774936"/>
      </a:accent5>
      <a:accent6>
        <a:srgbClr val="C492B1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